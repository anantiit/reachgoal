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noFill/>
          <a:ln w="1016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A580C"/>
                </a:solidFill>
              </a:rPr>
              <a:t>🗂️ PROFESSIONAL DEEP DIVE</a:t>
            </a:r>
          </a:p>
          <a:p>
            <a:r>
              <a:rPr sz="4800" b="1">
                <a:solidFill>
                  <a:srgbClr val="1E3A8A"/>
                </a:solidFill>
              </a:rPr>
              <a:t>Java Collections &amp; Streams:
Architecture to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7315200" cy="73152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Target Audience: Principal Engineers &amp; Seniors  |  Environment: Java 17+  |  Duration: 60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• Framework Architecture  • List/Set/Map Implementations  • Stream API Fundamentals  • Advanced Streams  • Parallel Streams &amp;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Why Learn Collections &amp; Streams?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13716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💼 Industry Reality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95% of Java code uses Collections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Avg enterprise app: 60-80% data manipulation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70% of bottlenecks from poor choices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#1 commented topic in code reviews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4114800" cy="1188720"/>
          </a:xfrm>
          <a:prstGeom prst="roundRect">
            <a:avLst/>
          </a:prstGeom>
          <a:solidFill>
            <a:srgbClr val="FFEDD5"/>
          </a:solidFill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💰 Business Value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Performance: Right collection = 100-1000x speedup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Maintainability: Stream code is 40% more readable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Cost: Microservice inefficiency = $1000s in cloud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3931920" cy="13716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EA580C"/>
                </a:solidFill>
              </a:rPr>
              <a:t>🚀 Career Impact (Senior → Principal)
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✓ Deep understanding of Big-O characteristics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✓ Ability to scale from 10k to 10M records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✓ Expertise in concurrent collection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560320"/>
            <a:ext cx="3931920" cy="118872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Concrete Examples Today: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ArrayList saving 2s on 100k ops vs LinkedList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LRU Cache with LinkedHashMap (Production Pattern)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ConcurrentHashMap handling 1M concurrent requests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Collections Framework -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188720"/>
            <a:ext cx="640080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1463040"/>
            <a:ext cx="1828800" cy="36576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Collection &lt;E&gt;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286000"/>
            <a:ext cx="1188720" cy="3200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A580C"/>
                </a:solidFill>
              </a:defRPr>
            </a:pPr>
            <a:r>
              <a:t>List &lt;E&gt;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834640"/>
            <a:ext cx="1188720" cy="274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ArrayList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200400"/>
            <a:ext cx="1188720" cy="274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LinkedList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286000"/>
            <a:ext cx="1188720" cy="3200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A580C"/>
                </a:solidFill>
              </a:defRPr>
            </a:pPr>
            <a:r>
              <a:t>Set &lt;E&gt;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834640"/>
            <a:ext cx="1188720" cy="274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HashSet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200400"/>
            <a:ext cx="1188720" cy="274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TreeSet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1188720" cy="3200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A580C"/>
                </a:solidFill>
              </a:defRPr>
            </a:pPr>
            <a:r>
              <a:t>Queue &lt;E&gt;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834640"/>
            <a:ext cx="1188720" cy="274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PriorityQueue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200400"/>
            <a:ext cx="1188720" cy="274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ArrayDeque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749039"/>
            <a:ext cx="5486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0" y="3931920"/>
            <a:ext cx="1828800" cy="3200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A580C"/>
                </a:solidFill>
              </a:defRPr>
            </a:pPr>
            <a:r>
              <a:t>Map &lt;K, V&gt;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389120"/>
            <a:ext cx="1280160" cy="274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HashMap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4389120"/>
            <a:ext cx="1280160" cy="274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A8A"/>
                </a:solidFill>
              </a:defRPr>
            </a:pPr>
            <a:r>
              <a:t>ConcurrentHashMap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ArrayList - What/Why/When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029200" cy="109728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📌 What is ArrayList?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Resizable array implementation. Default capacity 16, grows by 1.5x. Contiguous memory storage. Random access: O(1). Insert middle: O(n).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377440" cy="1463040"/>
          </a:xfrm>
          <a:prstGeom prst="roundRect">
            <a:avLst/>
          </a:prstGeom>
          <a:solidFill>
            <a:srgbClr val="F0FDF4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66534"/>
                </a:solidFill>
              </a:rPr>
              <a:t>💡 Why / When to Use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Lightning-fast random access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Memory efficient (~4 bytes overhead)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Best cache locality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Reading &gt; modifying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Appending to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286000"/>
            <a:ext cx="2377440" cy="146304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❌ When NOT to Use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Frequent insertions at beginning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Middle insertions common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Need thread-safety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097280"/>
            <a:ext cx="30175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// ✅ BEST PRACTICE: Fast random access &amp; append</a:t>
            </a:r>
            <a:br/>
            <a:r>
              <a:t>List&lt;String&gt; names = new ArrayList&lt;&gt;();</a:t>
            </a:r>
            <a:br/>
            <a:r>
              <a:t>names.add("Alice");        // O(1) amortized</a:t>
            </a:r>
            <a:br/>
            <a:r>
              <a:t>String first = names.get(0); // O(1) direct access</a:t>
            </a:r>
            <a:br/>
            <a:br/>
            <a:r>
              <a:t>// ✅ Pre-size if known capacity</a:t>
            </a:r>
            <a:br/>
            <a:r>
              <a:t>List&lt;User&gt; users = new ArrayList&lt;&gt;(1000);</a:t>
            </a:r>
            <a:br/>
            <a:br/>
            <a:r>
              <a:t>// ❌ ANTI-PATTERN: Inserting at index 0</a:t>
            </a:r>
            <a:br/>
            <a:r>
              <a:t>// Forces entire array (O(n)) to shift right!</a:t>
            </a:r>
            <a:br/>
            <a:r>
              <a:t>for (int i = 0; i &lt; 1000; i++) {</a:t>
            </a:r>
            <a:br/>
            <a:r>
              <a:t>    names.add(0, "Item");</a:t>
            </a:r>
            <a:br/>
            <a:r>
              <a:t>}</a:t>
            </a:r>
            <a:br/>
            <a:br/>
            <a:r>
              <a:t>// ✅ Use ArrayDeque for Queue needs</a:t>
            </a:r>
            <a:br/>
            <a:r>
              <a:t>Deque&lt;String&gt; queue = new ArrayDeque&lt;&gt;();</a:t>
            </a:r>
            <a:br/>
            <a:r>
              <a:t>queue.addFirst("Item"); // O(1) constant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LinkedList - What/Why/When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029200" cy="109728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📌 What is LinkedList?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Doubly-linked list (prev/data/next nodes). Implements List AND Deque. Grows node-by-node. Random access: O(n). Ends operations: O(1). Memory: ~40 bytes/element (10x ArrayList!).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377440" cy="1463040"/>
          </a:xfrm>
          <a:prstGeom prst="roundRect">
            <a:avLst/>
          </a:prstGeom>
          <a:solidFill>
            <a:srgbClr val="F0FDF4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66534"/>
                </a:solidFill>
              </a:rPr>
              <a:t>💡 Why / When to Use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O(1) ops at both ends (Deque)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No array resizing overhead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Efficient iterator insertions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Queue implementations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286000"/>
            <a:ext cx="2377440" cy="146304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❌ When NOT to Use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Random access needed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Memory constrained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General-purpose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097280"/>
            <a:ext cx="30175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// ✅ BEST PRACTICE: Using as strict Deque</a:t>
            </a:r>
            <a:br/>
            <a:r>
              <a:t>Deque&lt;String&gt; queue = new LinkedList&lt;&gt;();</a:t>
            </a:r>
            <a:br/>
            <a:r>
              <a:t>queue.addFirst("First");  // O(1)</a:t>
            </a:r>
            <a:br/>
            <a:r>
              <a:t>queue.addLast("Last");    // O(1)</a:t>
            </a:r>
            <a:br/>
            <a:r>
              <a:t>String head = queue.removeFirst(); // O(1)</a:t>
            </a:r>
            <a:br/>
            <a:br/>
            <a:r>
              <a:t>// ❌ ANTI-PATTERN: Random access on LinkedList</a:t>
            </a:r>
            <a:br/>
            <a:r>
              <a:t>LinkedList&lt;String&gt; list = getLargeList();</a:t>
            </a:r>
            <a:br/>
            <a:r>
              <a:t>for (int i = 0; i &lt; list.size(); i++) {</a:t>
            </a:r>
            <a:br/>
            <a:r>
              <a:t>    // Triggers O(n) traversal from head EACH loop.</a:t>
            </a:r>
            <a:br/>
            <a:r>
              <a:t>    // Total execution time explodes to O(n²)!</a:t>
            </a:r>
            <a:br/>
            <a:r>
              <a:t>    String item = list.get(i);</a:t>
            </a:r>
            <a:br/>
            <a:r>
              <a:t>}</a:t>
            </a:r>
            <a:br/>
            <a:br/>
            <a:r>
              <a:t>// ✅ BEST PRACTICE: Iterator avoids re-traversing</a:t>
            </a:r>
            <a:br/>
            <a:r>
              <a:t>for (String item : list) {</a:t>
            </a:r>
            <a:br/>
            <a:r>
              <a:t>    process(item); // O(n) total execution time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ArrayList vs LinkedList - The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22860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ArrayList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LinkedList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Random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0.002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2,500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ArrayList 1,000,000x faster!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Add at 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ArrayList 2.5x faster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Add at Beginning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0.001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LinkedList 150,000x faster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Iteration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Fast (cache)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Slow (pointers)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ArrayList 3-5x faster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Memory (1000 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~4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~40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ArrayList 10x more efficient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3749039"/>
            <a:ext cx="7315200" cy="6400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🎯 The Verdict: Default to ArrayList. Use LinkedList only for specific addFirst/removeFirst queue operations!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HashSet - What/Why/When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13716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📌 What is HashSet?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Backed by HashMap. Default capacity 16, load factor 0.75. No guaranteed order. O(1) add/remove/contains. Converts bins to trees (Java 8+) for collision mitigation.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1828800" cy="1188720"/>
          </a:xfrm>
          <a:prstGeom prst="roundRect">
            <a:avLst/>
          </a:prstGeom>
          <a:solidFill>
            <a:srgbClr val="F0FDF4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66534"/>
                </a:solidFill>
              </a:rPr>
              <a:t>💡 Why / When to Use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Automatic uniqueness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O(1) instant lookups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Fast add/remove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Set ops (union/intersection)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560320"/>
            <a:ext cx="2103120" cy="118872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❌ When NOT to Use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Need ordering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Allow duplicates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Need index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// GOOD: Remove duplicates</a:t>
            </a:r>
            <a:br/>
            <a:r>
              <a:t>List&lt;String&gt; dupes = Arrays.asList("A", "B", "A");</a:t>
            </a:r>
            <a:br/>
            <a:r>
              <a:t>Set&lt;String&gt; unique = new HashSet&lt;&gt;(dupes);</a:t>
            </a:r>
            <a:br/>
            <a:br/>
            <a:r>
              <a:t>// GOOD: Fast membership check</a:t>
            </a:r>
            <a:br/>
            <a:r>
              <a:t>Set&lt;String&gt; valid = new HashSet&lt;&gt;(List.of("US"));</a:t>
            </a:r>
            <a:br/>
            <a:r>
              <a:t>if (valid.contains("US")) { // O(1) Instant!</a:t>
            </a:r>
            <a:br/>
            <a:r>
              <a:t>    process();</a:t>
            </a:r>
            <a:br/>
            <a:r>
              <a:t>}</a:t>
            </a:r>
            <a:br/>
            <a:br/>
            <a:r>
              <a:t>// GOOD: Set operations</a:t>
            </a:r>
            <a:br/>
            <a:r>
              <a:t>Set&lt;Integer&gt; set1 = new HashSet&lt;&gt;(List.of(1, 2, 3));</a:t>
            </a:r>
            <a:br/>
            <a:r>
              <a:t>Set&lt;Integer&gt; set2 = new HashSet&lt;&gt;(List.of(3, 4, 5));</a:t>
            </a:r>
            <a:br/>
            <a:r>
              <a:t>set1.retainAll(set2); // Intersection: {3}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Set Implementations -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743200" cy="22860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LinkedHashSet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HashSet + insertion order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Need unique + insertion order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Deterministic testing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Slower than HashSet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100k ops: 52 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097280"/>
            <a:ext cx="2743200" cy="22860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TreeSet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Red-Black Tree, sorted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Need sorted unique collection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Range ops (ceiling, floor, subSet)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Slower, O(log n) performance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100k ops: 180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2377440" cy="2286000"/>
          </a:xfrm>
          <a:prstGeom prst="roundRect">
            <a:avLst/>
          </a:prstGeom>
          <a:solidFill>
            <a:srgbClr val="FFEDD5"/>
          </a:solidFill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EnumSet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Bit vector for enums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ALWAYS use for enum sets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64x more memory efficient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Lightning fast (bitwise ops)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100k ops: 5 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hashCode() &amp; equals()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0116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EA580C"/>
                </a:solidFill>
              </a:rPr>
              <a:t>The Mathematical Contract:
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1. If a.equals(b) is true → a.hashCode() == b.hashCode() MUST be true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2. If a.hashCode() != b.hashCode() → a.equals(b) MUST be false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3. Consistency: Multiple invocations return same value if object unchanged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class Person {</a:t>
            </a:r>
            <a:br/>
            <a:r>
              <a:t>    private final String id;</a:t>
            </a:r>
            <a:br/>
            <a:r>
              <a:t>    private final String name;</a:t>
            </a:r>
            <a:br/>
            <a:br/>
            <a:r>
              <a:t>    @Override</a:t>
            </a:r>
            <a:br/>
            <a:r>
              <a:t>    public boolean equals(Object obj) {</a:t>
            </a:r>
            <a:br/>
            <a:r>
              <a:t>        if (this == obj) return true;</a:t>
            </a:r>
            <a:br/>
            <a:r>
              <a:t>        if (!(obj instanceof Person p)) return false;</a:t>
            </a:r>
            <a:br/>
            <a:r>
              <a:t>        return Objects.equals(id, p.id);</a:t>
            </a:r>
            <a:br/>
            <a:r>
              <a:t>    }</a:t>
            </a:r>
            <a:br/>
            <a:br/>
            <a:r>
              <a:t>    @Override</a:t>
            </a:r>
            <a:br/>
            <a:r>
              <a:t>    public int hashCode() {</a:t>
            </a:r>
            <a:br/>
            <a:r>
              <a:t>        // Must hash the same fields used in equals</a:t>
            </a:r>
            <a:br/>
            <a:r>
              <a:t>        return Objects.hash(id);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HashMap - What/Why/When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13716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📌 The Workhorse Map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Array of buckets. Default load factor 0.75. O(1) average operations. Allows one null key and multiple null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1828800" cy="1188720"/>
          </a:xfrm>
          <a:prstGeom prst="roundRect">
            <a:avLst/>
          </a:prstGeom>
          <a:solidFill>
            <a:srgbClr val="F0FDF4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66534"/>
                </a:solidFill>
              </a:rPr>
              <a:t>💡 Why / When to Use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O(1) lookups/indexing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Counting frequencies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Associating relational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560320"/>
            <a:ext cx="2103120" cy="118872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❌ When NOT to Use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Need sorted/insertion order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Thread-safe access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// ✅ BEST PRACTICE: Frequency counting</a:t>
            </a:r>
            <a:br/>
            <a:r>
              <a:t>Map&lt;String, Integer&gt; freq = new HashMap&lt;&gt;();</a:t>
            </a:r>
            <a:br/>
            <a:r>
              <a:t>for (String word : words) {</a:t>
            </a:r>
            <a:br/>
            <a:r>
              <a:t>    freq.merge(word, 1, Integer::sum);</a:t>
            </a:r>
            <a:br/>
            <a:r>
              <a:t>}</a:t>
            </a:r>
            <a:br/>
            <a:br/>
            <a:r>
              <a:t>// ✅ BEST PRACTICE: Caching expensive ops</a:t>
            </a:r>
            <a:br/>
            <a:r>
              <a:t>Map&lt;String, Result&gt; cache = new HashMap&lt;&gt;();</a:t>
            </a:r>
            <a:br/>
            <a:r>
              <a:t>Result r = cache.computeIfAbsent(key,</a:t>
            </a:r>
            <a:br/>
            <a:r>
              <a:t>    k -&gt; expensiveOperation(k));</a:t>
            </a:r>
            <a:br/>
            <a:br/>
            <a:r>
              <a:t>// ❌ ANTI-PATTERN: Old 'get-check-put'</a:t>
            </a:r>
            <a:br/>
            <a:r>
              <a:t>if(!map.containsKey(key)) {</a:t>
            </a:r>
            <a:br/>
            <a:r>
              <a:t>    map.put(key, new ArrayList&lt;&gt;());</a:t>
            </a:r>
            <a:br/>
            <a:r>
              <a:t>}</a:t>
            </a:r>
            <a:br/>
            <a:r>
              <a:t>map.get(key).add(value);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LinkedHashMap - Predictable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65176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Two Ordering Modes: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1. Insertion order (default): Elements returned in sequence they were added. Crucial for config files or JSON serialization.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2. Access order (LRU): Most recently accessed element moves to end. Essential for memory caching.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class LRUCache&lt;K,V&gt; extends LinkedHashMap&lt;K,V&gt; {</a:t>
            </a:r>
            <a:br/>
            <a:r>
              <a:t>    private final int capacity;</a:t>
            </a:r>
            <a:br/>
            <a:br/>
            <a:r>
              <a:t>    LRUCache(int capacity) {</a:t>
            </a:r>
            <a:br/>
            <a:r>
              <a:t>        // capacity, load factor, accessOrder = true</a:t>
            </a:r>
            <a:br/>
            <a:r>
              <a:t>        super(capacity, 0.75f, true);</a:t>
            </a:r>
            <a:br/>
            <a:r>
              <a:t>        this.capacity = capacity;</a:t>
            </a:r>
            <a:br/>
            <a:r>
              <a:t>    }</a:t>
            </a:r>
            <a:br/>
            <a:br/>
            <a:r>
              <a:t>    @Override</a:t>
            </a:r>
            <a:br/>
            <a:r>
              <a:t>    protected boolean removeEldestEntry(</a:t>
            </a:r>
            <a:br/>
            <a:r>
              <a:t>            Map.Entry&lt;K,V&gt; eldest) {</a:t>
            </a:r>
            <a:br/>
            <a:r>
              <a:t>        // Automatically prune old entries</a:t>
            </a:r>
            <a:br/>
            <a:r>
              <a:t>        return size() &gt; capacity;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TreeMap - Sorted &amp; Navigable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65176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📌 Red-Black Tree Implementation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O(log n) for get/put/remove. Sorted by keys. No null keys allowed.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NavigableMap Operations: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ceilingKey(x) &gt;= x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floorKey(x) &lt;= x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higherKey(x) &gt; x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lowerKey(x) &lt; x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subMap(from, to) / headMap() / tailMap()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TreeMap&lt;Integer, String&gt; map = new TreeMap&lt;&gt;();</a:t>
            </a:r>
            <a:br/>
            <a:r>
              <a:t>map.put(10, "A");</a:t>
            </a:r>
            <a:br/>
            <a:r>
              <a:t>map.put(20, "B");</a:t>
            </a:r>
            <a:br/>
            <a:r>
              <a:t>map.put(30, "C");</a:t>
            </a:r>
            <a:br/>
            <a:br/>
            <a:r>
              <a:t>// Navigation Queries</a:t>
            </a:r>
            <a:br/>
            <a:r>
              <a:t>map.ceilingKey(15); // Returns 20</a:t>
            </a:r>
            <a:br/>
            <a:r>
              <a:t>map.floorKey(25);   // Returns 20</a:t>
            </a:r>
            <a:br/>
            <a:br/>
            <a:r>
              <a:t>// Range Queries</a:t>
            </a:r>
            <a:br/>
            <a:r>
              <a:t>map.tailMap(20); // Returns {20=B, 30=C}</a:t>
            </a:r>
            <a:br/>
            <a:br/>
            <a:r>
              <a:t>// Time-based events processor</a:t>
            </a:r>
            <a:br/>
            <a:r>
              <a:t>TreeMap&lt;LocalDateTime, Event&gt; schedule = ...;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ConcurrentHashMap - What/Why/When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13716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📌 Thread-Safe High-Performance Map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Lock-free reads. CAS + bin-level locking for writes (no global lock). Iterators don't throw ConcurrentModificationException.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1828800" cy="1188720"/>
          </a:xfrm>
          <a:prstGeom prst="roundRect">
            <a:avLst/>
          </a:prstGeom>
          <a:solidFill>
            <a:srgbClr val="F0FDF4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66534"/>
                </a:solidFill>
              </a:rPr>
              <a:t>💡 When to Use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Multi-threaded shared maps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High read concurrency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Atomic updates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560320"/>
            <a:ext cx="2103120" cy="118872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❌ When NOT to Use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Single-threaded (overhead)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Need null keys/values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// GOOD: Atomic thread-safe counter</a:t>
            </a:r>
            <a:br/>
            <a:r>
              <a:t>ConcurrentHashMap&lt;String, Long&gt; counters =</a:t>
            </a:r>
            <a:br/>
            <a:r>
              <a:t>    new ConcurrentHashMap&lt;&gt;();</a:t>
            </a:r>
            <a:br/>
            <a:br/>
            <a:r>
              <a:t>// No synchronized block needed!</a:t>
            </a:r>
            <a:br/>
            <a:r>
              <a:t>counters.merge("requests", 1L, Long::sum);</a:t>
            </a:r>
            <a:br/>
            <a:br/>
            <a:r>
              <a:t>// GOOD: Thread-safe caching</a:t>
            </a:r>
            <a:br/>
            <a:r>
              <a:t>ConcurrentHashMap&lt;String, User&gt; cache =</a:t>
            </a:r>
            <a:br/>
            <a:r>
              <a:t>    new ConcurrentHashMap&lt;&gt;();</a:t>
            </a:r>
            <a:br/>
            <a:r>
              <a:t>User u = cache.computeIfAbsent(id,</a:t>
            </a:r>
            <a:br/>
            <a:r>
              <a:t>    this::loadUser);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Java 8+ Map Compute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594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3A8A"/>
                </a:solidFill>
              </a:rPr>
              <a:t>compute()
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Always computes new value (whether key is present or absent)</a:t>
            </a:r>
            <a:br/>
            <a:r>
              <a:t>map.compute("key", (k, v) -&gt; v == null ? 1 : v + 1);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8229600" cy="594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3A8A"/>
                </a:solidFill>
              </a:rPr>
              <a:t>computeIfAbsent()
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Computes value only if key is absent</a:t>
            </a:r>
            <a:br/>
            <a:r>
              <a:t>map.computeIfAbsent(key, k -&gt; expensiveOp(k));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8229600" cy="594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3A8A"/>
                </a:solidFill>
              </a:rPr>
              <a:t>computeIfPresent()
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Computes value only if key is present</a:t>
            </a:r>
            <a:br/>
            <a:r>
              <a:t>map.computeIfPresent(key, (k, v) -&gt; v + 1);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8229600" cy="594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3A8A"/>
                </a:solidFill>
              </a:rPr>
              <a:t>merge()
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Merges new value with existing value using function</a:t>
            </a:r>
            <a:br/>
            <a:r>
              <a:t>map.merge(key, 1, Integer::sum);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Queue &amp; Deque - FIFO &amp; LIFO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73152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1. ArrayDeque (Best Stack/Queue)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Resizable circular array, O(1) both ends. Vastly outperforms legacy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4114800" cy="73152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2. PriorityQueue (Heaps)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Binary heap. Smallest/highest-priority element first. O(log n) inserts. Top-K algorithms.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4114800" cy="73152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3. BlockingQueue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Thread-safe producer-consumer wait/notify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// ArrayDeque as Stack</a:t>
            </a:r>
            <a:br/>
            <a:r>
              <a:t>Deque&lt;String&gt; stack = new ArrayDeque&lt;&gt;();</a:t>
            </a:r>
            <a:br/>
            <a:r>
              <a:t>stack.push("First");</a:t>
            </a:r>
            <a:br/>
            <a:r>
              <a:t>String top = stack.pop();</a:t>
            </a:r>
            <a:br/>
            <a:br/>
            <a:r>
              <a:t>// Priority Task Queue</a:t>
            </a:r>
            <a:br/>
            <a:r>
              <a:t>PriorityQueue&lt;Task&gt; tasks = new PriorityQueue&lt;&gt;(</a:t>
            </a:r>
            <a:br/>
            <a:r>
              <a:t>    Comparator.comparingInt(Task::getPriority)</a:t>
            </a:r>
            <a:br/>
            <a:r>
              <a:t>);</a:t>
            </a:r>
            <a:br/>
            <a:r>
              <a:t>tasks.offer(new Task("Urgent", 1));</a:t>
            </a:r>
            <a:br/>
            <a:r>
              <a:t>Task t = tasks.poll(); // gets priority 1</a:t>
            </a:r>
            <a:br/>
            <a:br/>
            <a:r>
              <a:t>// Producer/Consumer</a:t>
            </a:r>
            <a:br/>
            <a:r>
              <a:t>BlockingQueue&lt;Work&gt; q = new ArrayBlockingQueue&lt;&gt;(100);</a:t>
            </a:r>
            <a:br/>
            <a:r>
              <a:t>q.put(work); // Blocks if full</a:t>
            </a:r>
            <a:br/>
            <a:r>
              <a:t>Work w = q.take(); // Blocks if empty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Immutable Collections (Java 9+)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9144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📌 True Immutability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List.of(), Set.of(), Map.of(). Not merely read-only views. Completely independent, thread-safe, and highly space-efficient.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1920240" cy="914400"/>
          </a:xfrm>
          <a:prstGeom prst="roundRect">
            <a:avLst/>
          </a:prstGeom>
          <a:solidFill>
            <a:srgbClr val="F0FDF4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66534"/>
                </a:solidFill>
              </a:rPr>
              <a:t>💡 Why to Use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Thread-safe by default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No defensive copies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JVM memory optimizations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103120"/>
            <a:ext cx="2011680" cy="9144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⚠️ Constraints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No nulls allowed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Fails fast on modification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// GOOD: System Constants</a:t>
            </a:r>
            <a:br/>
            <a:r>
              <a:t>private static final List&lt;String&gt; STATUS =</a:t>
            </a:r>
            <a:br/>
            <a:r>
              <a:t>    List.of("PENDING", "APPROVED", "REJECTED");</a:t>
            </a:r>
            <a:br/>
            <a:br/>
            <a:r>
              <a:t>// GOOD: Return safely without copying</a:t>
            </a:r>
            <a:br/>
            <a:r>
              <a:t>public List&lt;String&gt; getPermissions() {</a:t>
            </a:r>
            <a:br/>
            <a:r>
              <a:t>    return List.of("READ", "WRITE");</a:t>
            </a:r>
            <a:br/>
            <a:r>
              <a:t>}</a:t>
            </a:r>
            <a:br/>
            <a:br/>
            <a:r>
              <a:t>// GOOD: Build then freeze</a:t>
            </a:r>
            <a:br/>
            <a:r>
              <a:t>List&lt;String&gt; temp = new ArrayList&lt;&gt;();</a:t>
            </a:r>
            <a:br/>
            <a:r>
              <a:t>// ... logic ...</a:t>
            </a:r>
            <a:br/>
            <a:r>
              <a:t>List&lt;String&gt; frozen = List.copyOf(temp);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Comparable vs Comparator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109728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Comparable&lt;T&gt; (Natural Ordering)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Implemented by the class itself.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Single ordering logic (compareTo).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e.g., String, Integer, LocalDate.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4114800" cy="1097280"/>
          </a:xfrm>
          <a:prstGeom prst="roundRect">
            <a:avLst/>
          </a:prstGeom>
          <a:solidFill>
            <a:srgbClr val="FFEDD5"/>
          </a:solidFill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Comparator&lt;T&gt; (External)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External to class; multiple orderings possible.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Highly fluent Java 8+ API for chaining.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Use primitives (comparingInt) to stop boxing.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// Advanced Comparator Chaining</a:t>
            </a:r>
            <a:br/>
            <a:r>
              <a:t>Comparator&lt;Employee&gt; comp = Comparator</a:t>
            </a:r>
            <a:br/>
            <a:r>
              <a:t>    .comparingInt(Employee::getAge)</a:t>
            </a:r>
            <a:br/>
            <a:r>
              <a:t>    .thenComparingDouble(Employee::getSalary)</a:t>
            </a:r>
            <a:br/>
            <a:r>
              <a:t>    .thenComparing(Employee::getName)</a:t>
            </a:r>
            <a:br/>
            <a:r>
              <a:t>    .reversed();</a:t>
            </a:r>
            <a:br/>
            <a:br/>
            <a:r>
              <a:t>// Handling Nulls</a:t>
            </a:r>
            <a:br/>
            <a:r>
              <a:t>Comparator&lt;User&gt; c2 = Comparator</a:t>
            </a:r>
            <a:br/>
            <a:r>
              <a:t>    .comparing(User::getLastName,</a:t>
            </a:r>
            <a:br/>
            <a:r>
              <a:t>               Comparator.nullsLast(</a:t>
            </a:r>
            <a:br/>
            <a:r>
              <a:t>                   String.CASE_INSENSITIVE_ORDER));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Performance Summary - Decision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65176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List &amp; Set Hierarchy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ArrayList: Default. Random access, iteration, append.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LinkedList: ONLY for deque ops at both ends.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HashSet: Default Set. Uniqueness, O(1).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LinkedHashSet: Insertion order maintained.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TreeSet: Sorted order, range ops.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EnumSet: Enum types only. Fastest possible 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FEDD5"/>
          </a:solidFill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Map &amp; Queue Hierarchy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HashMap: Default general purpose Map.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LinkedHashMap: Insertion/access order (LRU).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TreeMap: Sorted keys, range queries.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ConcurrentHashMap: Thread-safe, high concurrency.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ArrayDeque: Best Stack/Queue performance.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PriorityQueue: Min/Max heap logic.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Stream API - Declarative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13716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EA580C"/>
                </a:solidFill>
              </a:rPr>
              <a:t>📌 What is a Stream?
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NOT a data structure. It holds no storage. It is a one-time-use pipeline descriptor that conveys elements lazily.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1920240" cy="1188720"/>
          </a:xfrm>
          <a:prstGeom prst="roundRect">
            <a:avLst/>
          </a:prstGeom>
          <a:solidFill>
            <a:srgbClr val="F0FDF4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66534"/>
                </a:solidFill>
              </a:rPr>
              <a:t>💡 Why / When to Use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Declarative code (what, not how)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Easy multi-core parallelization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✅ Processing collections (map/reduce)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560320"/>
            <a:ext cx="2011680" cy="118872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❌ Anti-Patterns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Modifying source inside .forEach()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Overusing streams for simple iterations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❌ Complex try/catch in lambdas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// ❌ ANTI-PATTERN: Stream with side-effects</a:t>
            </a:r>
            <a:br/>
            <a:r>
              <a:t>List&lt;String&gt; badResult = new ArrayList&lt;&gt;();</a:t>
            </a:r>
            <a:br/>
            <a:r>
              <a:t>names.stream()</a:t>
            </a:r>
            <a:br/>
            <a:r>
              <a:t>     .filter(n -&gt; n.length() &gt; 3)</a:t>
            </a:r>
            <a:br/>
            <a:r>
              <a:t>     .forEach(n -&gt; badResult.add(n.toUpperCase()));</a:t>
            </a:r>
            <a:br/>
            <a:br/>
            <a:r>
              <a:t>// ✅ BEST PRACTICE: Declarative &amp; Pure</a:t>
            </a:r>
            <a:br/>
            <a:r>
              <a:t>List&lt;String&gt; goodResult = names.stream()</a:t>
            </a:r>
            <a:br/>
            <a:r>
              <a:t>    .filter(Objects::nonNull)</a:t>
            </a:r>
            <a:br/>
            <a:r>
              <a:t>    .filter(n -&gt; n.length() &gt; 3)</a:t>
            </a:r>
            <a:br/>
            <a:r>
              <a:t>    .map(String::toUpperCase)</a:t>
            </a:r>
            <a:br/>
            <a:r>
              <a:t>    .sorted()</a:t>
            </a:r>
            <a:br/>
            <a:r>
              <a:t>    .collect(Collectors.toList());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Stream Operations - 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286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Intermediate (Lazy, return Stream)
</a:t>
            </a:r>
          </a:p>
          <a:p>
            <a:pPr>
              <a:defRPr sz="900">
                <a:solidFill>
                  <a:srgbClr val="0F172A"/>
                </a:solidFill>
                <a:latin typeface="Courier New"/>
              </a:defRPr>
            </a:pPr>
            <a:r>
              <a:t>.filter(n -&gt; n &gt; 10)       // Predicate match</a:t>
            </a:r>
            <a:br/>
            <a:r>
              <a:t>.map(String::toUpperCase)  // Transform</a:t>
            </a:r>
            <a:br/>
            <a:r>
              <a:t>.flatMap(List::stream)     // Flatten nesting</a:t>
            </a:r>
            <a:br/>
            <a:r>
              <a:t>.distinct()                // Unique items</a:t>
            </a:r>
            <a:br/>
            <a:r>
              <a:t>.sorted()                  // Natural order</a:t>
            </a:r>
            <a:br/>
            <a:r>
              <a:t>.limit(5)                  // Max 5 items</a:t>
            </a:r>
            <a:br/>
            <a:r>
              <a:t>.skip(3)                   // Bypass 3 items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3931920" cy="228600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EA580C"/>
                </a:solidFill>
              </a:rPr>
              <a:t>Terminal (Eager, return Result)
</a:t>
            </a:r>
          </a:p>
          <a:p>
            <a:pPr>
              <a:defRPr sz="900">
                <a:solidFill>
                  <a:srgbClr val="0F172A"/>
                </a:solidFill>
                <a:latin typeface="Courier New"/>
              </a:defRPr>
            </a:pPr>
            <a:r>
              <a:t>.collect(toList())         // Gather to list</a:t>
            </a:r>
            <a:br/>
            <a:r>
              <a:t>.forEach(System.out::print)// Side-effect</a:t>
            </a:r>
            <a:br/>
            <a:r>
              <a:t>.reduce(0, Integer::sum)   // Aggregate math</a:t>
            </a:r>
            <a:br/>
            <a:r>
              <a:t>.count()                   // Size of stream</a:t>
            </a:r>
            <a:br/>
            <a:r>
              <a:t>.anyMatch(n -&gt; n &gt; 5)      // Boolean check</a:t>
            </a:r>
            <a:br/>
            <a:r>
              <a:t>.findFirst()               // Returns Optional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Lazy Evaluation &amp; Short-Circuiting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21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109728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Lazy Evaluation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Pipeline operations are fused and pushed to the JVM. Nothing processes until the terminal operation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4114800" cy="1463040"/>
          </a:xfrm>
          <a:prstGeom prst="roundRect">
            <a:avLst/>
          </a:prstGeom>
          <a:solidFill>
            <a:srgbClr val="FFEDD5"/>
          </a:solidFill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Short-Circuiting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Operations that complete early without processing the entire stream.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Intermediate: limit(n), takeWhile()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Terminal: findFirst(), anyMatch()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// Optimization Demonstration</a:t>
            </a:r>
            <a:br/>
            <a:r>
              <a:t>list.stream()</a:t>
            </a:r>
            <a:br/>
            <a:r>
              <a:t>    .filter(n -&gt; {</a:t>
            </a:r>
            <a:br/>
            <a:r>
              <a:t>        // Will ONLY print until first even is found</a:t>
            </a:r>
            <a:br/>
            <a:r>
              <a:t>        System.out.println("Checking " + n);</a:t>
            </a:r>
            <a:br/>
            <a:r>
              <a:t>        return n % 2 == 0;</a:t>
            </a:r>
            <a:br/>
            <a:r>
              <a:t>    })</a:t>
            </a:r>
            <a:br/>
            <a:r>
              <a:t>    .map(n -&gt; n * 2)</a:t>
            </a:r>
            <a:br/>
            <a:r>
              <a:t>    .findFirst(); // Terminals trigger the pipeline!</a:t>
            </a:r>
            <a:br/>
            <a:br/>
            <a:r>
              <a:t>// Massive memory/CPU savings on 1M element list!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Advanced Collectors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65176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Powerful Groupings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Collectors execute mutable reduction. The Collectors class provides SQL-like data aggregation.</a:t>
            </a:r>
          </a:p>
          <a:p>
            <a:pPr>
              <a:defRPr sz="1000">
                <a:solidFill>
                  <a:srgbClr val="334155"/>
                </a:solidFill>
              </a:defRPr>
            </a:pP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groupingBy: The equivalent of SQL GROUP BY.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partitioningBy: Binary classification (true/false keys).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Downstream: Applying secondary collectors (like averaging) to groups.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// SQL GROUP BY equivalent</a:t>
            </a:r>
            <a:br/>
            <a:r>
              <a:t>Map&lt;String, List&lt;Employee&gt;&gt; byDept =</a:t>
            </a:r>
            <a:br/>
            <a:r>
              <a:t>    employees.stream()</a:t>
            </a:r>
            <a:br/>
            <a:r>
              <a:t>    .collect(Collectors.groupingBy(</a:t>
            </a:r>
            <a:br/>
            <a:r>
              <a:t>        Employee::getDepartment));</a:t>
            </a:r>
            <a:br/>
            <a:br/>
            <a:r>
              <a:t>// Binary Partitioning (Even/Odd)</a:t>
            </a:r>
            <a:br/>
            <a:r>
              <a:t>Map&lt;Boolean, List&lt;Integer&gt;&gt; split =</a:t>
            </a:r>
            <a:br/>
            <a:r>
              <a:t>    nums.stream()</a:t>
            </a:r>
            <a:br/>
            <a:r>
              <a:t>    .collect(Collectors.partitioningBy(</a:t>
            </a:r>
            <a:br/>
            <a:r>
              <a:t>        n -&gt; n % 2 == 0));</a:t>
            </a:r>
            <a:br/>
            <a:br/>
            <a:r>
              <a:t>// Downstream Grouping &amp; Math</a:t>
            </a:r>
            <a:br/>
            <a:r>
              <a:t>Map&lt;String, Double&gt; avgSalaryByDept =</a:t>
            </a:r>
            <a:br/>
            <a:r>
              <a:t>    emps.stream()</a:t>
            </a:r>
            <a:br/>
            <a:r>
              <a:t>    .collect(Collectors.groupingBy(</a:t>
            </a:r>
            <a:br/>
            <a:r>
              <a:t>        Employee::getDept,</a:t>
            </a:r>
            <a:br/>
            <a:r>
              <a:t>        Collectors.averagingDouble(Employee::getSal)</a:t>
            </a:r>
            <a:br/>
            <a:r>
              <a:t>    ));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reduce vs collect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23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651760"/>
          </a:xfrm>
          <a:prstGeom prst="roundRect">
            <a:avLst/>
          </a:prstGeom>
          <a:solidFill>
            <a:srgbClr val="FFEDD5"/>
          </a:solidFill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600" b="1">
                <a:solidFill>
                  <a:srgbClr val="EA580C"/>
                </a:solidFill>
              </a:rPr>
              <a:t>reduce() - Immutable Reduction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Creates a new value at each step.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Perfect for primitives and simple aggregations (sum, min, max).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Has an identity, accumulator, and combiner (for parallel).</a:t>
            </a:r>
          </a:p>
          <a:p>
            <a:pPr>
              <a:defRPr sz="1000">
                <a:solidFill>
                  <a:srgbClr val="334155"/>
                </a:solidFill>
              </a:defRPr>
            </a:pPr>
          </a:p>
          <a:p>
            <a:pPr>
              <a:defRPr sz="1000">
                <a:solidFill>
                  <a:srgbClr val="334155"/>
                </a:solidFill>
                <a:latin typeface="Courier New"/>
              </a:defRPr>
            </a:pPr>
            <a:r>
              <a:t>int sum = numbers.stream().reduce(0, Integer::sum);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600" b="1">
                <a:solidFill>
                  <a:srgbClr val="1E3A8A"/>
                </a:solidFill>
              </a:rPr>
              <a:t>collect() - Mutable Reduction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Mutates a container (e.g., ArrayList) repeatedly.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Orders of magnitude faster for gathering elements.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Handles complex grouping logic cleanly.</a:t>
            </a:r>
          </a:p>
          <a:p>
            <a:pPr>
              <a:defRPr sz="1000">
                <a:solidFill>
                  <a:srgbClr val="334155"/>
                </a:solidFill>
              </a:defRPr>
            </a:pPr>
          </a:p>
          <a:p>
            <a:pPr>
              <a:defRPr sz="1000">
                <a:solidFill>
                  <a:srgbClr val="334155"/>
                </a:solidFill>
                <a:latin typeface="Courier New"/>
              </a:defRPr>
            </a:pPr>
            <a:r>
              <a:t>List&lt;String&gt; list = stream.collect(Collectors.toList());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Parallel Streams - Power &amp;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24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920240" cy="1097280"/>
          </a:xfrm>
          <a:prstGeom prst="roundRect">
            <a:avLst/>
          </a:prstGeom>
          <a:solidFill>
            <a:srgbClr val="F0FDF4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66534"/>
                </a:solidFill>
              </a:rPr>
              <a:t>✅ When to Parallelize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Huge Datasets (&gt;10k elements)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CPU-intensive map/filter ops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Purely stateless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097280"/>
            <a:ext cx="2011680" cy="109728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❌ When NOT to Use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I/O Bound logic (HTTP/DB)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Tiny collections (threading overhead)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Shared mutable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4114800" cy="6400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Under the hood, .parallelStream() uses the JVM's global ForkJoinPool.commonPool(). Misusing it can stall your entire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defRPr sz="900">
                <a:solidFill>
                  <a:srgbClr val="0F172A"/>
                </a:solidFill>
                <a:latin typeface="Courier New"/>
              </a:defRPr>
            </a:pPr>
            <a:r>
              <a:t>// GOOD: Functional aggregation</a:t>
            </a:r>
            <a:br/>
            <a:r>
              <a:t>int correctSum = numbers.parallelStream()</a:t>
            </a:r>
            <a:br/>
            <a:r>
              <a:t>    .reduce(0, Integer::sum); // Safe!</a:t>
            </a:r>
            <a:br/>
            <a:br/>
            <a:r>
              <a:t>// GOOD: CPU-intensive isolation</a:t>
            </a:r>
            <a:br/>
            <a:r>
              <a:t>List&lt;Image&gt; processed = images</a:t>
            </a:r>
            <a:br/>
            <a:r>
              <a:t>    .parallelStream()</a:t>
            </a:r>
            <a:br/>
            <a:r>
              <a:t>    .map(this::heavyImageFilters)</a:t>
            </a:r>
            <a:br/>
            <a:r>
              <a:t>    .collect(Collectors.toList());</a:t>
            </a:r>
            <a:br/>
            <a:br/>
            <a:r>
              <a:t>// Can achieve 4-8x speedup on multicore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Parallel Stream Pitfalls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65176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Pitfall 1: Shared Mutable State
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// ❌ WRONG: Race Condition</a:t>
            </a:r>
            <a:br/>
            <a:r>
              <a:t>int[] sum = {0};</a:t>
            </a:r>
            <a:br/>
            <a:r>
              <a:t>IntStream.range(0, 1000).parallel()</a:t>
            </a:r>
            <a:br/>
            <a:r>
              <a:t>    .forEach(i -&gt; sum[0] += i);</a:t>
            </a:r>
            <a:br/>
            <a:r>
              <a:t>// Yields unpredictable incorrect results!</a:t>
            </a:r>
            <a:br/>
            <a:br/>
            <a:r>
              <a:t>// ✅ CORRECT: Use functional reduce</a:t>
            </a:r>
            <a:br/>
            <a:r>
              <a:t>int sum = IntStream.range(0, 1000).parallel()</a:t>
            </a:r>
            <a:br/>
            <a:r>
              <a:t>    .reduce(0, Integer::sum);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3931920" cy="265176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Pitfall 2: Non-Thread-Safe Collections
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// ❌ WRONG: ArrayList is not concurrent</a:t>
            </a:r>
            <a:br/>
            <a:r>
              <a:t>List&lt;Integer&gt; list = new ArrayList&lt;&gt;();</a:t>
            </a:r>
            <a:br/>
            <a:r>
              <a:t>IntStream.range(0, 1000).parallel()</a:t>
            </a:r>
            <a:br/>
            <a:r>
              <a:t>    .forEach(list::add);</a:t>
            </a:r>
            <a:br/>
            <a:r>
              <a:t>// Throws exceptions &amp; loses data!</a:t>
            </a:r>
            <a:br/>
            <a:br/>
            <a:r>
              <a:t>// ✅ CORRECT: Let Collect handle threading</a:t>
            </a:r>
            <a:br/>
            <a:r>
              <a:t>List&lt;Integer&gt; list = IntStream.range(0, 1000)</a:t>
            </a:r>
            <a:br/>
            <a:r>
              <a:t>    .parallel()</a:t>
            </a:r>
            <a:br/>
            <a:r>
              <a:t>    .boxed()</a:t>
            </a:r>
            <a:br/>
            <a:r>
              <a:t>    .collect(Collectors.toList());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Key Takeaways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EA580C"/>
                </a:solidFill>
              </a:defRPr>
            </a:pPr>
            <a:r>
              <a:t>SLIDE 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743200" cy="265176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1E3A8A"/>
                </a:solidFill>
              </a:rPr>
              <a:t>Collections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1. Program to interfaces: List&lt;T&gt;.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2. ArrayList = Default List, HashSet = Default Set.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3. Specify initial capacity if known.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4. Override hashCode() with equals().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5. Use List.of() for immutability.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6. Use EnumSet/EnumMap for enums.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7. ConcurrentHashMap over synchronized block.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097280"/>
            <a:ext cx="2743200" cy="2651760"/>
          </a:xfrm>
          <a:prstGeom prst="roundRect">
            <a:avLst/>
          </a:prstGeom>
          <a:solidFill>
            <a:srgbClr val="FFEDD5"/>
          </a:solidFill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400" b="1">
                <a:solidFill>
                  <a:srgbClr val="B91C1C"/>
                </a:solidFill>
              </a:rPr>
              <a:t>Streams
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1. Use for complex data transformations.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2. Prefer method references over lambdas.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3. Use primitive streams (IntStream).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4. collect() over reduce() for gathering.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5. Avoid side-effects inside pipelines.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6. Use Optional correctly (not for collections).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2377440" cy="26517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EA580C"/>
                </a:solidFill>
              </a:rPr>
              <a:t>Performance Rules
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▶ Choose the right collection - it impacts performance by orders of magnitude.</a:t>
            </a:r>
          </a:p>
          <a:p>
            <a:pPr>
              <a:defRPr sz="1600">
                <a:solidFill>
                  <a:srgbClr val="EA580C"/>
                </a:solidFill>
              </a:defRPr>
            </a:pP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▶ Don't parallelize prematurely - large datasets + CPU-intensive only.</a:t>
            </a:r>
          </a:p>
          <a:p>
            <a:pPr>
              <a:defRPr sz="1600">
                <a:solidFill>
                  <a:srgbClr val="EA580C"/>
                </a:solidFill>
              </a:defRPr>
            </a:pP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▶ Measure, don't assume - utilize JMH benchmarks.</a:t>
            </a:r>
          </a:p>
          <a:p>
            <a:pPr>
              <a:defRPr sz="1600">
                <a:solidFill>
                  <a:srgbClr val="EA580C"/>
                </a:solidFill>
              </a:defRPr>
            </a:pPr>
          </a:p>
          <a:p>
            <a:pPr algn="ctr">
              <a:defRPr sz="1600" b="1">
                <a:solidFill>
                  <a:srgbClr val="EA580C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